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81" r:id="rId5"/>
    <p:sldId id="261" r:id="rId6"/>
    <p:sldId id="283" r:id="rId7"/>
    <p:sldId id="284" r:id="rId8"/>
    <p:sldId id="277" r:id="rId9"/>
    <p:sldId id="28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6" autoAdjust="0"/>
    <p:restoredTop sz="94879" autoAdjust="0"/>
  </p:normalViewPr>
  <p:slideViewPr>
    <p:cSldViewPr snapToGrid="0">
      <p:cViewPr varScale="1">
        <p:scale>
          <a:sx n="84" d="100"/>
          <a:sy n="84" d="100"/>
        </p:scale>
        <p:origin x="427" y="77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FE048-FAD0-D943-9A17-3C4CB7633182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47812-3409-784D-BAE7-ABE53735D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394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631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anchor="ctr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2816" y="457200"/>
            <a:ext cx="4837176" cy="1993392"/>
          </a:xfrm>
        </p:spPr>
        <p:txBody>
          <a:bodyPr anchor="b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B8CBAD6-FC79-B2BB-0B67-26429A6D4C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8882" y="0"/>
            <a:ext cx="6115050" cy="6858000"/>
          </a:xfrm>
          <a:prstGeom prst="parallelogram">
            <a:avLst/>
          </a:prstGeom>
          <a:ln>
            <a:noFill/>
          </a:ln>
        </p:spPr>
        <p:txBody>
          <a:bodyPr tIns="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2818" y="2752344"/>
            <a:ext cx="4837174" cy="31363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4796A3-781D-5244-DAB8-2D6EE0AC3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817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anchor="b">
            <a:noAutofit/>
          </a:bodyPr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>
            <a:normAutofit/>
          </a:bodyPr>
          <a:lstStyle>
            <a:lvl1pPr marL="0" indent="0" algn="l">
              <a:buNone/>
              <a:defRPr sz="2000"/>
            </a:lvl1pPr>
          </a:lstStyle>
          <a:p>
            <a:r>
              <a:rPr lang="en-US" dirty="0"/>
              <a:t>Click icon to add 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2425" y="466344"/>
            <a:ext cx="6241651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11A5385-FB23-93A8-2B8F-9887244244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287838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242426" y="2286000"/>
            <a:ext cx="624165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577E27-B60E-C6DD-BAAF-5CCC3D59E5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964CA031-27E0-D0AA-1451-A904CCF234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199" y="2024781"/>
            <a:ext cx="5212079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81FE0D7D-86B7-CCD2-A7A1-70E95846B5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D2DE411-9D7C-15AE-0B59-F26B2BF8C52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2024781"/>
            <a:ext cx="2878394" cy="4137189"/>
          </a:xfrm>
        </p:spPr>
        <p:txBody>
          <a:bodyPr>
            <a:normAutofit/>
          </a:bodyPr>
          <a:lstStyle>
            <a:lvl1pPr marL="3429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eriod"/>
              <a:defRPr sz="1800">
                <a:latin typeface="+mn-lt"/>
              </a:defRPr>
            </a:lvl1pPr>
            <a:lvl2pPr marL="8001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eriod"/>
              <a:defRPr sz="1800">
                <a:latin typeface="+mn-lt"/>
              </a:defRPr>
            </a:lvl2pPr>
            <a:lvl3pPr marL="12573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arenR"/>
              <a:defRPr sz="1800">
                <a:latin typeface="+mn-lt"/>
              </a:defRPr>
            </a:lvl3pPr>
            <a:lvl4pPr marL="17145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arenR"/>
              <a:defRPr sz="1800">
                <a:latin typeface="+mn-lt"/>
              </a:defRPr>
            </a:lvl4pPr>
            <a:lvl5pPr marL="2057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60FEDE7C-502F-ECFE-4136-E99206849C2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</p:spPr>
        <p:txBody>
          <a:bodyPr anchor="b" anchorCtr="0">
            <a:no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5F30E2A0-23EF-51B1-8ABD-00429EEA06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8200" y="2257063"/>
            <a:ext cx="4894006" cy="390490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15552F-C66B-341F-2D37-0389710BA5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00938" y="-22225"/>
            <a:ext cx="4714875" cy="688022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8DCC6D-8B88-7BE0-7240-F743AE09E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814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9C3ED3BF-FF6B-07FA-72C4-F6102A8558A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96074" y="2106591"/>
            <a:ext cx="2067045" cy="3633787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6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4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4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2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83980" y="2106591"/>
            <a:ext cx="7869820" cy="4016713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524C1E0-92FE-D7D2-83A7-46D29A83887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38200" y="1790329"/>
            <a:ext cx="5134335" cy="411305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27E0367-8E38-8905-DC9A-D0C376A591A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19464" y="1790329"/>
            <a:ext cx="5134335" cy="411305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D847DE-29F2-8ABB-1718-34BED4F37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13186" y="2107800"/>
            <a:ext cx="10965628" cy="392019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anchor="b">
            <a:noAutofit/>
          </a:bodyPr>
          <a:lstStyle>
            <a:lvl1pPr algn="ctr">
              <a:spcBef>
                <a:spcPts val="1000"/>
              </a:spcBef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075" y="3738622"/>
            <a:ext cx="9467850" cy="2527911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9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/>
              <a:t>GAMES COMMERCE DATABASE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E24607-C9E3-559C-7B10-21FC5468E21C}"/>
              </a:ext>
            </a:extLst>
          </p:cNvPr>
          <p:cNvSpPr txBox="1"/>
          <p:nvPr/>
        </p:nvSpPr>
        <p:spPr>
          <a:xfrm>
            <a:off x="128016" y="6018752"/>
            <a:ext cx="61447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+mj-lt"/>
              </a:rPr>
              <a:t>PROG211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Relational Databases</a:t>
            </a:r>
          </a:p>
          <a:p>
            <a:r>
              <a:rPr lang="en-US" dirty="0">
                <a:solidFill>
                  <a:schemeClr val="bg1"/>
                </a:solidFill>
                <a:latin typeface="+mj-lt"/>
              </a:rPr>
              <a:t>Eumee Garcia, Vanesa Robledo, Connar Thompson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2425" y="466344"/>
            <a:ext cx="6241651" cy="1710354"/>
          </a:xfrm>
          <a:noFill/>
        </p:spPr>
        <p:txBody>
          <a:bodyPr anchor="ctr"/>
          <a:lstStyle/>
          <a:p>
            <a:r>
              <a:rPr lang="en-US" dirty="0"/>
              <a:t>Project Use Case</a:t>
            </a:r>
          </a:p>
        </p:txBody>
      </p:sp>
      <p:pic>
        <p:nvPicPr>
          <p:cNvPr id="20" name="Picture Placeholder 7">
            <a:extLst>
              <a:ext uri="{FF2B5EF4-FFF2-40B4-BE49-F238E27FC236}">
                <a16:creationId xmlns:a16="http://schemas.microsoft.com/office/drawing/2014/main" id="{59669B42-CC26-1A2A-1FE7-526E425D019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738" r="18738"/>
          <a:stretch/>
        </p:blipFill>
        <p:spPr>
          <a:xfrm>
            <a:off x="0" y="0"/>
            <a:ext cx="4287838" cy="68580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426" y="2286000"/>
            <a:ext cx="6241650" cy="3474720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chemeClr val="tx1">
                  <a:lumMod val="75000"/>
                  <a:lumOff val="25000"/>
                </a:schemeClr>
              </a:buClr>
            </a:pPr>
            <a:r>
              <a:rPr lang="en-US" dirty="0"/>
              <a:t>Manage video game commerce</a:t>
            </a:r>
          </a:p>
          <a:p>
            <a:pPr lvl="3">
              <a:buClr>
                <a:schemeClr val="tx1">
                  <a:lumMod val="75000"/>
                  <a:lumOff val="25000"/>
                </a:schemeClr>
              </a:buClr>
            </a:pPr>
            <a:r>
              <a:rPr lang="en-US" dirty="0"/>
              <a:t>Track video games and consoles sold in the business and purchases made by customers</a:t>
            </a:r>
          </a:p>
          <a:p>
            <a:pPr lvl="4">
              <a:buClr>
                <a:schemeClr val="tx1">
                  <a:lumMod val="75000"/>
                  <a:lumOff val="25000"/>
                </a:schemeClr>
              </a:buClr>
            </a:pPr>
            <a:r>
              <a:rPr lang="en-US" dirty="0"/>
              <a:t>Manage customers that register with the store</a:t>
            </a:r>
          </a:p>
          <a:p>
            <a:pPr lvl="4">
              <a:buClr>
                <a:schemeClr val="tx1">
                  <a:lumMod val="75000"/>
                  <a:lumOff val="25000"/>
                </a:schemeClr>
              </a:buClr>
            </a:pPr>
            <a:r>
              <a:rPr lang="en-US" dirty="0"/>
              <a:t>Manage employees that work at stores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software company&#10;&#10;AI-generated content may be incorrect.">
            <a:extLst>
              <a:ext uri="{FF2B5EF4-FFF2-40B4-BE49-F238E27FC236}">
                <a16:creationId xmlns:a16="http://schemas.microsoft.com/office/drawing/2014/main" id="{E2A2F88D-E6F0-4BDA-6F23-42FCAF5DB9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5311" y="19887"/>
            <a:ext cx="8681378" cy="681822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F09DBAC-2546-B66A-F4C0-CE46A7459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505" y="186222"/>
            <a:ext cx="1188855" cy="616418"/>
          </a:xfrm>
          <a:noFill/>
        </p:spPr>
        <p:txBody>
          <a:bodyPr anchor="ctr"/>
          <a:lstStyle/>
          <a:p>
            <a:r>
              <a:rPr lang="en-US" dirty="0" err="1"/>
              <a:t>erd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75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screenshot of a computer program">
            <a:extLst>
              <a:ext uri="{FF2B5EF4-FFF2-40B4-BE49-F238E27FC236}">
                <a16:creationId xmlns:a16="http://schemas.microsoft.com/office/drawing/2014/main" id="{425FA523-BAC6-CA29-E0C2-F44D672A44D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" r="46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8C6199A1-4E66-41B1-7376-DA3ED4D44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/>
              <a:t>Project demo</a:t>
            </a:r>
          </a:p>
        </p:txBody>
      </p:sp>
    </p:spTree>
    <p:extLst>
      <p:ext uri="{BB962C8B-B14F-4D97-AF65-F5344CB8AC3E}">
        <p14:creationId xmlns:p14="http://schemas.microsoft.com/office/powerpoint/2010/main" val="3173330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  <a:noFill/>
        </p:spPr>
        <p:txBody>
          <a:bodyPr anchor="b"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8200" y="2257063"/>
            <a:ext cx="4894006" cy="390490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/>
              <a:t>Challenge</a:t>
            </a:r>
            <a:r>
              <a:rPr lang="en-US" dirty="0"/>
              <a:t>:</a:t>
            </a:r>
            <a:r>
              <a:rPr lang="en-US" b="1" dirty="0"/>
              <a:t> </a:t>
            </a:r>
            <a:r>
              <a:rPr lang="en-US" dirty="0"/>
              <a:t>Representing both video games and consoles in purchases</a:t>
            </a:r>
            <a:br>
              <a:rPr lang="en-US" dirty="0"/>
            </a:br>
            <a:r>
              <a:rPr lang="en-US" b="1" dirty="0"/>
              <a:t>Solution</a:t>
            </a:r>
            <a:r>
              <a:rPr lang="en-US" dirty="0"/>
              <a:t>: Create inventory entity</a:t>
            </a:r>
            <a:br>
              <a:rPr lang="en-US" dirty="0"/>
            </a:br>
            <a:endParaRPr lang="en-US" dirty="0"/>
          </a:p>
          <a:p>
            <a:pPr marL="285750" lvl="1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/>
              <a:t>Challenge</a:t>
            </a:r>
            <a:r>
              <a:rPr lang="en-US" dirty="0"/>
              <a:t>: Designing the layout to edit 7 entities with CRUD operations</a:t>
            </a:r>
            <a:br>
              <a:rPr lang="en-US" dirty="0"/>
            </a:br>
            <a:r>
              <a:rPr lang="en-US" b="1" dirty="0"/>
              <a:t>Solution</a:t>
            </a:r>
            <a:r>
              <a:rPr lang="en-US" dirty="0"/>
              <a:t>: Split screen layout &amp; </a:t>
            </a:r>
            <a:r>
              <a:rPr lang="en-US"/>
              <a:t>popup form</a:t>
            </a:r>
            <a:br>
              <a:rPr lang="en-US" dirty="0"/>
            </a:br>
            <a:endParaRPr lang="en-US" dirty="0"/>
          </a:p>
          <a:p>
            <a:pPr marL="285750" lvl="1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/>
              <a:t>Challenge: </a:t>
            </a:r>
            <a:r>
              <a:rPr lang="en-US" dirty="0"/>
              <a:t>Representing foreign keys</a:t>
            </a:r>
            <a:br>
              <a:rPr lang="en-US" dirty="0"/>
            </a:br>
            <a:r>
              <a:rPr lang="en-US" b="1" dirty="0"/>
              <a:t>Solution</a:t>
            </a:r>
            <a:r>
              <a:rPr lang="en-US" dirty="0"/>
              <a:t>: Load all tables into one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DataSet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285750" lvl="1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1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1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 dirty="0"/>
          </a:p>
        </p:txBody>
      </p:sp>
      <p:pic>
        <p:nvPicPr>
          <p:cNvPr id="15" name="Picture Placeholder 5">
            <a:extLst>
              <a:ext uri="{FF2B5EF4-FFF2-40B4-BE49-F238E27FC236}">
                <a16:creationId xmlns:a16="http://schemas.microsoft.com/office/drawing/2014/main" id="{BBD84AA8-495D-1210-1B06-DA73C5BCF36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0727" r="30727"/>
          <a:stretch/>
        </p:blipFill>
        <p:spPr>
          <a:xfrm>
            <a:off x="7500938" y="-22225"/>
            <a:ext cx="4714875" cy="6880225"/>
          </a:xfrm>
        </p:spPr>
      </p:pic>
    </p:spTree>
    <p:extLst>
      <p:ext uri="{BB962C8B-B14F-4D97-AF65-F5344CB8AC3E}">
        <p14:creationId xmlns:p14="http://schemas.microsoft.com/office/powerpoint/2010/main" val="1649597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11" descr="A close up of dot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6" y="1164414"/>
            <a:ext cx="9467127" cy="25279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ac_CP_V19" id="{030227AD-26D8-46F7-B412-6532AF4DDFEA}" vid="{787E6F9C-FC70-455D-8D81-5DEDA8A08F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Tech presentation</Template>
  <TotalTime>53</TotalTime>
  <Words>109</Words>
  <Application>Microsoft Office PowerPoint</Application>
  <PresentationFormat>Widescreen</PresentationFormat>
  <Paragraphs>18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Cascadia Code</vt:lpstr>
      <vt:lpstr>Wingdings</vt:lpstr>
      <vt:lpstr>Custom</vt:lpstr>
      <vt:lpstr>GAMES COMMERCE DATABASE</vt:lpstr>
      <vt:lpstr>Project Use Case</vt:lpstr>
      <vt:lpstr>erd</vt:lpstr>
      <vt:lpstr>Project demo</vt:lpstr>
      <vt:lpstr>CHALLENGES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Vanesa Robledo</dc:creator>
  <cp:lastModifiedBy>Vanesa Robledo</cp:lastModifiedBy>
  <cp:revision>10</cp:revision>
  <dcterms:created xsi:type="dcterms:W3CDTF">2025-12-08T19:23:14Z</dcterms:created>
  <dcterms:modified xsi:type="dcterms:W3CDTF">2025-12-09T15:24:43Z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